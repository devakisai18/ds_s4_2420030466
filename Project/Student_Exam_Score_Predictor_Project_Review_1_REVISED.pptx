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737360" cy="5802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B2F2"/>
                </a:solidFill>
                <a:latin typeface="Aptos"/>
              </a:defRPr>
            </a:pPr>
            <a:r>
              <a:t>DATA SCIENCE / ENGINEERING CAPSTONE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789920" cy="306324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8308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9B2F2"/>
                </a:solidFill>
                <a:latin typeface="Aptos"/>
              </a:defRPr>
            </a:pPr>
            <a:r>
              <a:t>PROJECT REVIEW –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9966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F2F2F2"/>
                </a:solidFill>
                <a:latin typeface="Aptos"/>
              </a:defRPr>
            </a:pPr>
            <a:r>
              <a:t>Student-Exam-Score-Predictor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24612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BEBEBE"/>
                </a:solidFill>
                <a:latin typeface="Aptos"/>
              </a:defRPr>
            </a:pPr>
            <a:r>
              <a:t>Machine-learning based prediction of expected examination scores</a:t>
            </a:r>
            <a:br/>
            <a:r>
              <a:t>from academic and behavioral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006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2F2F2"/>
                </a:solidFill>
                <a:latin typeface="Aptos"/>
              </a:defRPr>
            </a:pPr>
            <a:r>
              <a:t>S. Karthikeya  •  D. Umesh  •  D. Sai Yashwanth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16636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EBEBE"/>
                </a:solidFill>
                <a:latin typeface="Aptos"/>
              </a:defRPr>
            </a:pPr>
            <a:r>
              <a:t>Guide: B. Prathusha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57784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EBEBE"/>
                </a:solidFill>
                <a:latin typeface="Aptos"/>
              </a:defRPr>
            </a:pPr>
            <a:r>
              <a:t>A.Y. 2026–2027  |  Review Date: 22 September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600200" cy="53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B2F2"/>
                </a:solidFill>
                <a:latin typeface="Aptos Display"/>
              </a:defRPr>
            </a:pPr>
            <a:r>
              <a:t>Outline of Project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507492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B2F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8074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2F2"/>
                </a:solidFill>
                <a:latin typeface="Aptos"/>
              </a:defRPr>
            </a:pPr>
            <a:r>
              <a:t>Introduction &amp;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07492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96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B2F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7802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2F2"/>
                </a:solidFill>
                <a:latin typeface="Aptos"/>
              </a:defRPr>
            </a:pPr>
            <a:r>
              <a:t>Research 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507492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93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B2F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7530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2F2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26279"/>
            <a:ext cx="507492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90871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B2F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672583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2F2"/>
                </a:solidFill>
                <a:latin typeface="Aptos"/>
              </a:defRPr>
            </a:pPr>
            <a:r>
              <a:t>Problem Gap Identification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234440"/>
            <a:ext cx="507492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B2F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38074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2F2"/>
                </a:solidFill>
                <a:latin typeface="Aptos"/>
              </a:defRPr>
            </a:pPr>
            <a:r>
              <a:t>Innovation, Creativity &amp; Novelty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2331720"/>
            <a:ext cx="507492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496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B2F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47802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2F2"/>
                </a:solidFill>
                <a:latin typeface="Aptos"/>
              </a:defRPr>
            </a:pPr>
            <a:r>
              <a:t>Feasibility, Challenges &amp; Project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3429000"/>
            <a:ext cx="507492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5935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B2F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57530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2F2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4526279"/>
            <a:ext cx="507492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4690871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B2F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672583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2F2"/>
                </a:solidFill>
                <a:latin typeface="Aptos"/>
              </a:defRPr>
            </a:pPr>
            <a:r>
              <a:t>References &amp; Publications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EBEBE"/>
                </a:solidFill>
                <a:latin typeface="Aptos"/>
              </a:defRPr>
            </a:pPr>
            <a:r>
              <a:t>Review focus: problem → evidence → gap → proposed solution → feasibility → plan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600200" cy="53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B2F2"/>
                </a:solidFill>
                <a:latin typeface="Aptos Display"/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9B2F2"/>
                </a:solidFill>
                <a:latin typeface="Aptos"/>
              </a:defRPr>
            </a:pPr>
            <a:r>
              <a:t>WHY THIS PROBLEM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43484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2F2F2"/>
                </a:solidFill>
                <a:latin typeface="Aptos"/>
              </a:defRPr>
            </a:pPr>
            <a:r>
              <a:t>Student performance is multi-factorial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2F2F2"/>
                </a:solidFill>
                <a:latin typeface="Aptos"/>
              </a:defRPr>
            </a:pPr>
            <a:r>
              <a:t>• Study hours and attendance</a:t>
            </a:r>
          </a:p>
          <a:p>
            <a:pPr>
              <a:spcAft>
                <a:spcPts val="700"/>
              </a:spcAft>
              <a:defRPr sz="1400">
                <a:solidFill>
                  <a:srgbClr val="F2F2F2"/>
                </a:solidFill>
                <a:latin typeface="Aptos"/>
              </a:defRPr>
            </a:pPr>
            <a:r>
              <a:t>• Previous examination marks</a:t>
            </a:r>
          </a:p>
          <a:p>
            <a:pPr>
              <a:spcAft>
                <a:spcPts val="700"/>
              </a:spcAft>
              <a:defRPr sz="1400">
                <a:solidFill>
                  <a:srgbClr val="F2F2F2"/>
                </a:solidFill>
                <a:latin typeface="Aptos"/>
              </a:defRPr>
            </a:pPr>
            <a:r>
              <a:t>• Assignment performance</a:t>
            </a:r>
          </a:p>
          <a:p>
            <a:pPr>
              <a:spcAft>
                <a:spcPts val="700"/>
              </a:spcAft>
              <a:defRPr sz="1400">
                <a:solidFill>
                  <a:srgbClr val="F2F2F2"/>
                </a:solidFill>
                <a:latin typeface="Aptos"/>
              </a:defRPr>
            </a:pPr>
            <a:r>
              <a:t>• Participation in academic activities</a:t>
            </a:r>
          </a:p>
          <a:p>
            <a:pPr>
              <a:spcAft>
                <a:spcPts val="700"/>
              </a:spcAft>
              <a:defRPr sz="1400">
                <a:solidFill>
                  <a:srgbClr val="F2F2F2"/>
                </a:solidFill>
                <a:latin typeface="Aptos"/>
              </a:defRPr>
            </a:pPr>
            <a:r>
              <a:t>• Sleep patterns and other learning-related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97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9B2F2"/>
                </a:solidFill>
                <a:latin typeface="Aptos"/>
              </a:defRPr>
            </a:pPr>
            <a:r>
              <a:t>PROPOSED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48920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7276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9B2F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56362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2F2F2"/>
                </a:solidFill>
                <a:latin typeface="Aptos"/>
              </a:defRPr>
            </a:pPr>
            <a:r>
              <a:t>Academic + behavioral factors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51392" y="2066544"/>
            <a:ext cx="0" cy="164592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240280"/>
            <a:ext cx="48920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5000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9B2F2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408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2F2F2"/>
                </a:solidFill>
                <a:latin typeface="Aptos"/>
              </a:defRPr>
            </a:pPr>
            <a:r>
              <a:t>Clean and prepare historical records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51392" y="2843784"/>
            <a:ext cx="0" cy="164592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3017520"/>
            <a:ext cx="48920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12724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9B2F2"/>
                </a:solidFill>
                <a:latin typeface="Aptos"/>
              </a:defRPr>
            </a:pPr>
            <a:r>
              <a:t>FEATURE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118103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2F2F2"/>
                </a:solidFill>
                <a:latin typeface="Aptos"/>
              </a:defRPr>
            </a:pPr>
            <a:r>
              <a:t>Identify relevant predictors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51392" y="3621024"/>
            <a:ext cx="0" cy="164591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3794760"/>
            <a:ext cx="48920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0448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9B2F2"/>
                </a:solidFill>
                <a:latin typeface="Aptos"/>
              </a:defRPr>
            </a:pPr>
            <a:r>
              <a:t>ML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89534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2F2F2"/>
                </a:solidFill>
                <a:latin typeface="Aptos"/>
              </a:defRPr>
            </a:pPr>
            <a:r>
              <a:t>Learn score relationships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51392" y="4398264"/>
            <a:ext cx="0" cy="164592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4572000"/>
            <a:ext cx="48920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6817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9B2F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67258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2F2F2"/>
                </a:solidFill>
                <a:latin typeface="Aptos"/>
              </a:defRPr>
            </a:pPr>
            <a:r>
              <a:t>Expected examination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4406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BEBEBE"/>
                </a:solidFill>
                <a:latin typeface="Aptos"/>
              </a:defRPr>
            </a:pPr>
            <a:r>
              <a:t>Goal: make academic performance assessment more informative and proactive.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600200" cy="53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B2F2"/>
                </a:solidFill>
                <a:latin typeface="Aptos Display"/>
              </a:defRPr>
            </a:pPr>
            <a:r>
              <a:t>Research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5087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5528" y="1472184"/>
            <a:ext cx="384048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721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44752"/>
            <a:ext cx="27157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F2F2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64792"/>
            <a:ext cx="26974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EBEBE"/>
                </a:solidFill>
                <a:latin typeface="Aptos"/>
              </a:defRPr>
            </a:pPr>
            <a:r>
              <a:t>Gather academic and behavioral factors relevant to examination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429000" cy="15087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288" y="1472184"/>
            <a:ext cx="384048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721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444752"/>
            <a:ext cx="27157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F2F2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764792"/>
            <a:ext cx="26974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EBEBE"/>
                </a:solidFill>
                <a:latin typeface="Aptos"/>
              </a:defRPr>
            </a:pPr>
            <a:r>
              <a:t>Prepare historical student records for reliable modelling.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429000" cy="15087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85048" y="1472184"/>
            <a:ext cx="384048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4721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444752"/>
            <a:ext cx="27157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F2F2"/>
                </a:solidFill>
                <a:latin typeface="Aptos"/>
              </a:defRPr>
            </a:pPr>
            <a:r>
              <a:t>Select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764792"/>
            <a:ext cx="26974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EBEBE"/>
                </a:solidFill>
                <a:latin typeface="Aptos"/>
              </a:defRPr>
            </a:pPr>
            <a:r>
              <a:t>Identify factors that are most relevant to academic performance.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46120"/>
            <a:ext cx="3429000" cy="15087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" y="3392424"/>
            <a:ext cx="384048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3924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364991"/>
            <a:ext cx="27157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F2F2"/>
                </a:solidFill>
                <a:latin typeface="Aptos"/>
              </a:defRPr>
            </a:pPr>
            <a:r>
              <a:t>Train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685031"/>
            <a:ext cx="26974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EBEBE"/>
                </a:solidFill>
                <a:latin typeface="Aptos"/>
              </a:defRPr>
            </a:pPr>
            <a:r>
              <a:t>Apply a suitable machine-learning regression algorithm.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246120"/>
            <a:ext cx="3429000" cy="15087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3392424"/>
            <a:ext cx="384048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3924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364991"/>
            <a:ext cx="27157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F2F2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685031"/>
            <a:ext cx="26974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EBEBE"/>
                </a:solidFill>
                <a:latin typeface="Aptos"/>
              </a:defRPr>
            </a:pPr>
            <a:r>
              <a:t>Estimate an expected examination score for new student inputs.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246120"/>
            <a:ext cx="3429000" cy="15087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85048" y="3392424"/>
            <a:ext cx="384048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33924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364991"/>
            <a:ext cx="27157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2F2F2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685031"/>
            <a:ext cx="26974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EBEBE"/>
                </a:solidFill>
                <a:latin typeface="Aptos"/>
              </a:defRPr>
            </a:pPr>
            <a:r>
              <a:t>Help students and institutions identify areas needing academic support.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49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9B2F2"/>
                </a:solidFill>
                <a:latin typeface="Aptos"/>
              </a:defRPr>
            </a:pPr>
            <a:r>
              <a:t>END-TO-END 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57400" y="5166360"/>
            <a:ext cx="16916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5294376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F2F2F2"/>
                </a:solidFill>
                <a:latin typeface="Aptos"/>
              </a:defRPr>
            </a:pPr>
            <a:r>
              <a:t>Student factors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67328" y="5468112"/>
            <a:ext cx="228600" cy="0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069080" y="5166360"/>
            <a:ext cx="16916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5294376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F2F2F2"/>
                </a:solidFill>
                <a:latin typeface="Aptos"/>
              </a:defRPr>
            </a:pPr>
            <a:r>
              <a:t>Preprocessing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79008" y="5468112"/>
            <a:ext cx="228600" cy="0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080760" y="5166360"/>
            <a:ext cx="16916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5294376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F2F2F2"/>
                </a:solidFill>
                <a:latin typeface="Aptos"/>
              </a:defRPr>
            </a:pPr>
            <a:r>
              <a:t>Feature selection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90688" y="5468112"/>
            <a:ext cx="228600" cy="0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092440" y="5166360"/>
            <a:ext cx="16916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5294376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F2F2F2"/>
                </a:solidFill>
                <a:latin typeface="Aptos"/>
              </a:defRPr>
            </a:pPr>
            <a:r>
              <a:t>Regression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802368" y="5468112"/>
            <a:ext cx="228600" cy="0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04120" y="5166360"/>
            <a:ext cx="1691640" cy="5943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9840" y="5294376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>
                <a:solidFill>
                  <a:srgbClr val="F2F2F2"/>
                </a:solidFill>
                <a:latin typeface="Aptos"/>
              </a:defRPr>
            </a:pPr>
            <a:r>
              <a:t>Predicted score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600200" cy="53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B2F2"/>
                </a:solidFill>
                <a:latin typeface="Aptos Display"/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EBEBE"/>
                </a:solidFill>
                <a:latin typeface="Aptos"/>
              </a:defRPr>
            </a:pPr>
            <a:r>
              <a:t>Selected studies relevant to educational data mining and student-performance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645920" cy="502920"/>
          </a:xfrm>
          <a:prstGeom prst="rect">
            <a:avLst/>
          </a:prstGeom>
          <a:solidFill>
            <a:srgbClr val="4991D2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35024"/>
            <a:ext cx="1499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2F2F2"/>
                </a:solidFill>
                <a:latin typeface="Aptos"/>
              </a:defRPr>
            </a:pPr>
            <a:r>
              <a:t>Authors /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234440"/>
            <a:ext cx="2423160" cy="502920"/>
          </a:xfrm>
          <a:prstGeom prst="rect">
            <a:avLst/>
          </a:prstGeom>
          <a:solidFill>
            <a:srgbClr val="4991D2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1335024"/>
            <a:ext cx="2276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2F2F2"/>
                </a:solidFill>
                <a:latin typeface="Aptos"/>
              </a:defRPr>
            </a:pPr>
            <a:r>
              <a:t>Title / Focus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34440"/>
            <a:ext cx="2468880" cy="502920"/>
          </a:xfrm>
          <a:prstGeom prst="rect">
            <a:avLst/>
          </a:prstGeom>
          <a:solidFill>
            <a:srgbClr val="4991D2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33502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2F2F2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234440"/>
            <a:ext cx="2194560" cy="502920"/>
          </a:xfrm>
          <a:prstGeom prst="rect">
            <a:avLst/>
          </a:prstGeom>
          <a:solidFill>
            <a:srgbClr val="4991D2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1335024"/>
            <a:ext cx="20482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2F2F2"/>
                </a:solidFill>
                <a:latin typeface="Aptos"/>
              </a:defRPr>
            </a:pPr>
            <a:r>
              <a:t>Key inference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23160" cy="502920"/>
          </a:xfrm>
          <a:prstGeom prst="rect">
            <a:avLst/>
          </a:prstGeom>
          <a:solidFill>
            <a:srgbClr val="4991D2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54312" y="1335024"/>
            <a:ext cx="2276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2F2F2"/>
                </a:solidFill>
                <a:latin typeface="Aptos"/>
              </a:defRPr>
            </a:pPr>
            <a:r>
              <a:t>Limitation / relevance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37360"/>
            <a:ext cx="164592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810512"/>
            <a:ext cx="149961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Dabhade et al. (2021)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1737360"/>
            <a:ext cx="24231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1810512"/>
            <a:ext cx="22768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Educational data mining for predicting students’ academic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737360"/>
            <a:ext cx="246888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1810512"/>
            <a:ext cx="232257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Preprocessing + factor analysis; compares regression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737360"/>
            <a:ext cx="21945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1810512"/>
            <a:ext cx="2048255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Academic, personal and behavioral attributes can support prediction.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1737360"/>
            <a:ext cx="24231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810512"/>
            <a:ext cx="22768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Institution-specific dataset; motivates broader project features.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43200"/>
            <a:ext cx="164592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816352"/>
            <a:ext cx="149961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Yağcı (2022)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2743200"/>
            <a:ext cx="242316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21992" y="2816352"/>
            <a:ext cx="22768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EDM: prediction of students’ academic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743200"/>
            <a:ext cx="246888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2816352"/>
            <a:ext cx="232257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RF, SVM, LR, NB, kNN and NN for final-exam prediction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743200"/>
            <a:ext cx="219456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2816352"/>
            <a:ext cx="2048255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Midterm grades, faculty and department were used as predictors.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2743200"/>
            <a:ext cx="242316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2816352"/>
            <a:ext cx="22768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Limited input features; focuses on prediction/classification settings.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749039"/>
            <a:ext cx="164592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3822191"/>
            <a:ext cx="149961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Tomasevic et al. (2020)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3749039"/>
            <a:ext cx="24231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1992" y="3822191"/>
            <a:ext cx="22768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Supervised data-mining techniques for student exam performance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749039"/>
            <a:ext cx="246888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3822191"/>
            <a:ext cx="232257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Comparison of supervised ML techniques and input datasets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749039"/>
            <a:ext cx="21945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3822191"/>
            <a:ext cx="2048255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Model performance varies with algorithm and input data.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3749039"/>
            <a:ext cx="2423160" cy="1005840"/>
          </a:xfrm>
          <a:prstGeom prst="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54312" y="3822191"/>
            <a:ext cx="22768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F2F2F2"/>
                </a:solidFill>
                <a:latin typeface="Aptos"/>
              </a:defRPr>
            </a:pPr>
            <a:r>
              <a:t>No single universal model; supports project-specific comparison.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54879"/>
            <a:ext cx="164592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828031"/>
            <a:ext cx="149961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Yuan et al. (2026)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4754879"/>
            <a:ext cx="242316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21992" y="4828031"/>
            <a:ext cx="22768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Systematic review of student-success prediction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4754879"/>
            <a:ext cx="246888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5152" y="4828031"/>
            <a:ext cx="232257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PRISMA review of studies from 2015–2024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4754879"/>
            <a:ext cx="219456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4032" y="4828031"/>
            <a:ext cx="2048255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Academic/personal factors and ML methods are repeatedly used.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60" y="4754879"/>
            <a:ext cx="2423160" cy="1005840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54312" y="4828031"/>
            <a:ext cx="22768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E1E1E1"/>
                </a:solidFill>
                <a:latin typeface="Aptos"/>
              </a:defRPr>
            </a:pPr>
            <a:r>
              <a:t>Highlights need to connect prediction with practical intervention.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EBEBE"/>
                </a:solidFill>
                <a:latin typeface="Aptos"/>
              </a:defRPr>
            </a:pPr>
            <a:r>
              <a:t>Literature basis used in the current review; references are listed on Slide 9.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600200" cy="53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B2F2"/>
                </a:solidFill>
                <a:latin typeface="Aptos Display"/>
              </a:defRPr>
            </a:pPr>
            <a:r>
              <a:t>Problem Gap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EBEBE"/>
                </a:solidFill>
                <a:latin typeface="Aptos"/>
              </a:defRPr>
            </a:pPr>
            <a:r>
              <a:t>What the reviewed literature leaves open for this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653796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6479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B2F2"/>
                </a:solidFill>
                <a:latin typeface="Aptos"/>
              </a:defRPr>
            </a:pPr>
            <a:r>
              <a:t>Limited feature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37360"/>
            <a:ext cx="4160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  <a:latin typeface="Aptos"/>
              </a:defRPr>
            </a:pPr>
            <a:r>
              <a:t>Some studies use a narrower set of academic or demographic variables.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97480"/>
            <a:ext cx="653796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B2F2"/>
                </a:solidFill>
                <a:latin typeface="Aptos"/>
              </a:defRPr>
            </a:pPr>
            <a:r>
              <a:t>Classification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4160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  <a:latin typeface="Aptos"/>
              </a:defRPr>
            </a:pPr>
            <a:r>
              <a:t>Several approaches focus on pass/fail or risk categories rather than a continuous expected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49039"/>
            <a:ext cx="653796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867911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B2F2"/>
                </a:solidFill>
                <a:latin typeface="Aptos"/>
              </a:defRPr>
            </a:pPr>
            <a:r>
              <a:t>Context dependence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40479"/>
            <a:ext cx="4160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  <a:latin typeface="Aptos"/>
              </a:defRPr>
            </a:pPr>
            <a:r>
              <a:t>Model performance depends on the selected features, dataset and institution.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00600"/>
            <a:ext cx="6537960" cy="82296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91947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69B2F2"/>
                </a:solidFill>
                <a:latin typeface="Aptos"/>
              </a:defRPr>
            </a:pPr>
            <a:r>
              <a:t>From prediction to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892040"/>
            <a:ext cx="4160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  <a:latin typeface="Aptos"/>
              </a:defRPr>
            </a:pPr>
            <a:r>
              <a:t>A useful system should turn the prediction into understandable academic guidance.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645920"/>
            <a:ext cx="3749039" cy="425196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874519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2F2F2"/>
                </a:solidFill>
                <a:latin typeface="Aptos"/>
              </a:defRPr>
            </a:pPr>
            <a:r>
              <a:t>Conceptual relationship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21284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EBEBE"/>
                </a:solidFill>
                <a:latin typeface="Aptos"/>
              </a:defRPr>
            </a:pPr>
            <a:r>
              <a:t>Illustrative only — not project results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92440" y="5303520"/>
            <a:ext cx="2926079" cy="0"/>
          </a:xfrm>
          <a:prstGeom prst="line">
            <a:avLst/>
          </a:prstGeom>
          <a:ln w="317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092440" y="2514600"/>
            <a:ext cx="0" cy="2788920"/>
          </a:xfrm>
          <a:prstGeom prst="line">
            <a:avLst/>
          </a:prstGeom>
          <a:ln w="3175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23960" y="54406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EBEBE"/>
                </a:solidFill>
                <a:latin typeface="Aptos"/>
              </a:defRPr>
            </a:pPr>
            <a:r>
              <a:t>Study / learning effort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246120"/>
            <a:ext cx="3200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BEBEBE"/>
                </a:solidFill>
                <a:latin typeface="Aptos"/>
              </a:defRPr>
            </a:pPr>
            <a:r>
              <a:t>Expected</a:t>
            </a:r>
            <a:br/>
            <a:r>
              <a:t>score</a:t>
            </a:r>
          </a:p>
        </p:txBody>
      </p:sp>
      <p:sp>
        <p:nvSpPr>
          <p:cNvPr id="24" name="Oval 23"/>
          <p:cNvSpPr/>
          <p:nvPr/>
        </p:nvSpPr>
        <p:spPr>
          <a:xfrm>
            <a:off x="8366760" y="4754880"/>
            <a:ext cx="100584" cy="100584"/>
          </a:xfrm>
          <a:prstGeom prst="ellipse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32520" y="4434840"/>
            <a:ext cx="100584" cy="100584"/>
          </a:xfrm>
          <a:prstGeom prst="ellipse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6840" y="4251960"/>
            <a:ext cx="100584" cy="100584"/>
          </a:xfrm>
          <a:prstGeom prst="ellipse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81160" y="3794760"/>
            <a:ext cx="100584" cy="100584"/>
          </a:xfrm>
          <a:prstGeom prst="ellipse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46920" y="3566160"/>
            <a:ext cx="100584" cy="100584"/>
          </a:xfrm>
          <a:prstGeom prst="ellipse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0" y="3154680"/>
            <a:ext cx="100584" cy="100584"/>
          </a:xfrm>
          <a:prstGeom prst="ellipse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78440" y="2880360"/>
            <a:ext cx="100584" cy="100584"/>
          </a:xfrm>
          <a:prstGeom prst="ellipse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8229600" y="2880360"/>
            <a:ext cx="2331720" cy="2011680"/>
          </a:xfrm>
          <a:prstGeom prst="line">
            <a:avLst/>
          </a:prstGeom>
          <a:ln w="31750">
            <a:solidFill>
              <a:srgbClr val="49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598932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9B2F2"/>
                </a:solidFill>
                <a:latin typeface="Aptos"/>
              </a:defRPr>
            </a:pPr>
            <a:r>
              <a:t>Project response: combine multiple learning-related attributes and predict a continuous expected score.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600200" cy="53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B2F2"/>
                </a:solidFill>
                <a:latin typeface="Aptos Display"/>
              </a:defRPr>
            </a:pPr>
            <a:r>
              <a:t>Innovation, Creativity &amp; Novelty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074920" cy="452628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2F2"/>
                </a:solidFill>
                <a:latin typeface="Aptos"/>
              </a:defRPr>
            </a:pPr>
            <a:r>
              <a:t>Proposed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4805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F2F2F2"/>
                </a:solidFill>
                <a:latin typeface="Aptos"/>
              </a:defRPr>
            </a:pPr>
            <a:r>
              <a:t>• Combines academic and behavioral factors in one prediction workflow.</a:t>
            </a:r>
          </a:p>
          <a:p>
            <a:pPr>
              <a:spcAft>
                <a:spcPts val="700"/>
              </a:spcAft>
              <a:defRPr sz="1320">
                <a:solidFill>
                  <a:srgbClr val="F2F2F2"/>
                </a:solidFill>
                <a:latin typeface="Aptos"/>
              </a:defRPr>
            </a:pPr>
            <a:r>
              <a:t>• Uses preprocessing and feature selection before model training.</a:t>
            </a:r>
          </a:p>
          <a:p>
            <a:pPr>
              <a:spcAft>
                <a:spcPts val="700"/>
              </a:spcAft>
              <a:defRPr sz="1320">
                <a:solidFill>
                  <a:srgbClr val="F2F2F2"/>
                </a:solidFill>
                <a:latin typeface="Aptos"/>
              </a:defRPr>
            </a:pPr>
            <a:r>
              <a:t>• Targets a continuous expected examination score.</a:t>
            </a:r>
          </a:p>
          <a:p>
            <a:pPr>
              <a:spcAft>
                <a:spcPts val="700"/>
              </a:spcAft>
              <a:defRPr sz="1320">
                <a:solidFill>
                  <a:srgbClr val="F2F2F2"/>
                </a:solidFill>
                <a:latin typeface="Aptos"/>
              </a:defRPr>
            </a:pPr>
            <a:r>
              <a:t>• Produces an output that can support early academic planning.</a:t>
            </a:r>
          </a:p>
          <a:p>
            <a:pPr>
              <a:spcAft>
                <a:spcPts val="700"/>
              </a:spcAft>
              <a:defRPr sz="1320">
                <a:solidFill>
                  <a:srgbClr val="F2F2F2"/>
                </a:solidFill>
                <a:latin typeface="Aptos"/>
              </a:defRPr>
            </a:pPr>
            <a:r>
              <a:t>• Can be extended with explainable AI and a student/teacher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2F2F2"/>
                </a:solidFill>
                <a:latin typeface="Aptos"/>
              </a:defRPr>
            </a:pPr>
            <a:r>
              <a:t>System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83080"/>
            <a:ext cx="4389120" cy="50292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69B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2F2"/>
                </a:solidFill>
                <a:latin typeface="Aptos"/>
              </a:defRPr>
            </a:pPr>
            <a:r>
              <a:t>Student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41080" y="2295144"/>
            <a:ext cx="0" cy="192024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46520" y="2560320"/>
            <a:ext cx="4389120" cy="50292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2F2"/>
                </a:solidFill>
                <a:latin typeface="Aptos"/>
              </a:defRPr>
            </a:pPr>
            <a:r>
              <a:t>Preprocessing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3072384"/>
            <a:ext cx="0" cy="192024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46520" y="3337560"/>
            <a:ext cx="4389120" cy="50292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5C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2F2"/>
                </a:solidFill>
                <a:latin typeface="Aptos"/>
              </a:defRPr>
            </a:pPr>
            <a:r>
              <a:t>Feature selection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1080" y="3849624"/>
            <a:ext cx="0" cy="192024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46520" y="4114800"/>
            <a:ext cx="4389120" cy="50292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EB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2F2"/>
                </a:solidFill>
                <a:latin typeface="Aptos"/>
              </a:defRPr>
            </a:pPr>
            <a:r>
              <a:t>Regression model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1080" y="4626864"/>
            <a:ext cx="0" cy="192024"/>
          </a:xfrm>
          <a:prstGeom prst="line">
            <a:avLst/>
          </a:prstGeom>
          <a:ln w="31750">
            <a:solidFill>
              <a:srgbClr val="69B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46520" y="4892040"/>
            <a:ext cx="4389120" cy="50292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E1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83479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2F2"/>
                </a:solidFill>
                <a:latin typeface="Aptos"/>
              </a:defRPr>
            </a:pPr>
            <a:r>
              <a:t>Predicted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715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0">
                <a:solidFill>
                  <a:srgbClr val="BEBEBE"/>
                </a:solidFill>
                <a:latin typeface="Aptos"/>
              </a:defRPr>
            </a:pPr>
            <a:r>
              <a:t>Future: explainability • dashboards • continuous model updating • institution-specific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600200" cy="53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B2F2"/>
                </a:solidFill>
                <a:latin typeface="Aptos Display"/>
              </a:defRPr>
            </a:pPr>
            <a:r>
              <a:t>Feasibility and Project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977639" cy="498348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2F2F2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B2F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47672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F2F2F2"/>
                </a:solidFill>
                <a:latin typeface="Aptos"/>
              </a:defRPr>
            </a:pPr>
            <a:r>
              <a:t>Python, pandas, scikit-learn and standard ML regression methods are sufficient.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53512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B2F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35224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F2F2F2"/>
                </a:solidFill>
                <a:latin typeface="Aptos"/>
              </a:defRPr>
            </a:pPr>
            <a:r>
              <a:t>Historical student records and exam scores can be used after preprocessing and privacy protection.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4106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9B2F2"/>
                </a:solidFill>
                <a:latin typeface="Aptos"/>
              </a:defRPr>
            </a:pPr>
            <a:r>
              <a:t>Operational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922776"/>
            <a:ext cx="2240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F2F2F2"/>
                </a:solidFill>
                <a:latin typeface="Aptos"/>
              </a:defRPr>
            </a:pPr>
            <a:r>
              <a:t>Results are intended to be simple for students and academic staff to interpret.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2861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B2F2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10328"/>
            <a:ext cx="2377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F2F2F2"/>
                </a:solidFill>
                <a:latin typeface="Aptos"/>
              </a:defRPr>
            </a:pPr>
            <a:r>
              <a:t>Missing values, inconsistent records, feature selection, overfitting and generalization.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234440"/>
            <a:ext cx="6629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9B2F2"/>
                </a:solidFill>
                <a:latin typeface="Aptos"/>
              </a:defRPr>
            </a:pPr>
            <a:r>
              <a:t>PROJECT 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783080"/>
            <a:ext cx="438912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37943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F1F1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810512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2F2F2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801368"/>
            <a:ext cx="1783080" cy="310896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1833372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EBEBE"/>
                </a:solidFill>
                <a:latin typeface="Aptos"/>
              </a:defRPr>
            </a:pPr>
            <a:r>
              <a:t>Weeks 1–2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2395728"/>
            <a:ext cx="438912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45059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F1F1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42316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2F2F2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414016"/>
            <a:ext cx="1783080" cy="310896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2446020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EBEBE"/>
                </a:solidFill>
                <a:latin typeface="Aptos"/>
              </a:defRPr>
            </a:pPr>
            <a:r>
              <a:t>Weeks 3–4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3008376"/>
            <a:ext cx="438912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063240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F1F1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03580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2F2F2"/>
                </a:solidFill>
                <a:latin typeface="Aptos"/>
              </a:defRPr>
            </a:pPr>
            <a:r>
              <a:t>Feature selection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026664"/>
            <a:ext cx="1783080" cy="310896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51392" y="3058668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EBEBE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3621024"/>
            <a:ext cx="438912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3675887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F1F1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648456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2F2F2"/>
                </a:solidFill>
                <a:latin typeface="Aptos"/>
              </a:defRPr>
            </a:pPr>
            <a:r>
              <a:t>Model training &amp;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3639312"/>
            <a:ext cx="1783080" cy="310896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1392" y="3671315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EBEBE"/>
                </a:solidFill>
                <a:latin typeface="Aptos"/>
              </a:defRPr>
            </a:pPr>
            <a:r>
              <a:t>Weeks 6–7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4233672"/>
            <a:ext cx="438912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428853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F1F1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261104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2F2F2"/>
                </a:solidFill>
                <a:latin typeface="Aptos"/>
              </a:defRPr>
            </a:pPr>
            <a:r>
              <a:t>Prediction module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4251959"/>
            <a:ext cx="1783080" cy="310896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51392" y="4283964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EBEBE"/>
                </a:solidFill>
                <a:latin typeface="Aptos"/>
              </a:defRPr>
            </a:pPr>
            <a:r>
              <a:t>Week 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74920" y="4846320"/>
            <a:ext cx="438912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901183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F1F1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873752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2F2F2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4864607"/>
            <a:ext cx="1783080" cy="310896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51392" y="4896612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EBEBE"/>
                </a:solidFill>
                <a:latin typeface="Aptos"/>
              </a:defRPr>
            </a:pPr>
            <a:r>
              <a:t>Weeks 9–10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74920" y="5458968"/>
            <a:ext cx="438912" cy="384048"/>
          </a:xfrm>
          <a:prstGeom prst="roundRect">
            <a:avLst/>
          </a:prstGeom>
          <a:solidFill>
            <a:srgbClr val="69B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551383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F1F1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48640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2F2F2"/>
                </a:solidFill>
                <a:latin typeface="Aptos"/>
              </a:defRPr>
            </a:pPr>
            <a:r>
              <a:t>Documentation &amp; presentation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5477256"/>
            <a:ext cx="1783080" cy="310896"/>
          </a:xfrm>
          <a:prstGeom prst="rect">
            <a:avLst/>
          </a:prstGeom>
          <a:solidFill>
            <a:srgbClr val="343434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51392" y="5509260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EBEBE"/>
                </a:solidFill>
                <a:latin typeface="Aptos"/>
              </a:defRPr>
            </a:pPr>
            <a:r>
              <a:t>Weeks 11–12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6080760"/>
            <a:ext cx="6400800" cy="411480"/>
          </a:xfrm>
          <a:prstGeom prst="roundRect">
            <a:avLst/>
          </a:prstGeom>
          <a:solidFill>
            <a:srgbClr val="343434"/>
          </a:solidFill>
          <a:ln w="12700">
            <a:solidFill>
              <a:srgbClr val="49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6172200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9B2F2"/>
                </a:solidFill>
                <a:latin typeface="Aptos"/>
              </a:defRPr>
            </a:pPr>
            <a:r>
              <a:t>Planned outcome: validated score-prediction prototype + documented findings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600200" cy="53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9B2F2"/>
                </a:solidFill>
                <a:latin typeface="Aptos Display"/>
              </a:defRPr>
            </a:pPr>
            <a:r>
              <a:t>Conclusion, Future Work &amp;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3794760" cy="489204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2F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F2F2F2"/>
                </a:solidFill>
                <a:latin typeface="Aptos"/>
              </a:defRPr>
            </a:pPr>
            <a:r>
              <a:t>• Predict expected examination scores from student-related factors.</a:t>
            </a:r>
          </a:p>
          <a:p>
            <a:pPr>
              <a:spcAft>
                <a:spcPts val="700"/>
              </a:spcAft>
              <a:defRPr sz="1240">
                <a:solidFill>
                  <a:srgbClr val="F2F2F2"/>
                </a:solidFill>
                <a:latin typeface="Aptos"/>
              </a:defRPr>
            </a:pPr>
            <a:r>
              <a:t>• Use data preprocessing, feature selection and regression.</a:t>
            </a:r>
          </a:p>
          <a:p>
            <a:pPr>
              <a:spcAft>
                <a:spcPts val="700"/>
              </a:spcAft>
              <a:defRPr sz="1240">
                <a:solidFill>
                  <a:srgbClr val="F2F2F2"/>
                </a:solidFill>
                <a:latin typeface="Aptos"/>
              </a:defRPr>
            </a:pPr>
            <a:r>
              <a:t>• Support earlier academic assistance and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2F2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1596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70">
                <a:solidFill>
                  <a:srgbClr val="F2F2F2"/>
                </a:solidFill>
                <a:latin typeface="Aptos"/>
              </a:defRPr>
            </a:pPr>
            <a:r>
              <a:t>• Explainable predictions</a:t>
            </a:r>
          </a:p>
          <a:p>
            <a:pPr>
              <a:spcAft>
                <a:spcPts val="700"/>
              </a:spcAft>
              <a:defRPr sz="1170">
                <a:solidFill>
                  <a:srgbClr val="F2F2F2"/>
                </a:solidFill>
                <a:latin typeface="Aptos"/>
              </a:defRPr>
            </a:pPr>
            <a:r>
              <a:t>• Student/teacher dashboard</a:t>
            </a:r>
          </a:p>
          <a:p>
            <a:pPr>
              <a:spcAft>
                <a:spcPts val="700"/>
              </a:spcAft>
              <a:defRPr sz="1170">
                <a:solidFill>
                  <a:srgbClr val="F2F2F2"/>
                </a:solidFill>
                <a:latin typeface="Aptos"/>
              </a:defRPr>
            </a:pPr>
            <a:r>
              <a:t>• Continuous model updating</a:t>
            </a:r>
          </a:p>
          <a:p>
            <a:pPr>
              <a:spcAft>
                <a:spcPts val="700"/>
              </a:spcAft>
              <a:defRPr sz="1170">
                <a:solidFill>
                  <a:srgbClr val="F2F2F2"/>
                </a:solidFill>
                <a:latin typeface="Aptos"/>
              </a:defRPr>
            </a:pPr>
            <a:r>
              <a:t>• Institution-specific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18872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2F2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664208"/>
            <a:ext cx="6400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2F2F2"/>
                </a:solidFill>
                <a:latin typeface="Aptos"/>
              </a:defRPr>
            </a:pPr>
            <a:r>
              <a:t>[1] S. Karthikeya et al., “Student-Exam-Score-Predictor,” Project Abstract Submission, A.Y. 2026–2027.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377440"/>
            <a:ext cx="6400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2F2F2"/>
                </a:solidFill>
                <a:latin typeface="Aptos"/>
              </a:defRPr>
            </a:pPr>
            <a:r>
              <a:t>[2] P. Dabhade et al., “Educational data mining for predicting students’ academic performance using machine learning algorithms,” Materials Today: Proceedings, 2021. DOI: 10.1016/j.matpr.2021.05.646.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090672"/>
            <a:ext cx="6400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2F2F2"/>
                </a:solidFill>
                <a:latin typeface="Aptos"/>
              </a:defRPr>
            </a:pPr>
            <a:r>
              <a:t>[3] M. Yağcı, “Educational data mining: prediction of students’ academic performance using machine learning algorithms,” Smart Learning Environments, 2022. DOI: 10.1186/s40561-022-00192-z.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803904"/>
            <a:ext cx="6400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2F2F2"/>
                </a:solidFill>
                <a:latin typeface="Aptos"/>
              </a:defRPr>
            </a:pPr>
            <a:r>
              <a:t>[4] N. Tomasevic, N. Gvozdenovic, S. Vranes, “An overview and comparison of supervised data mining techniques for student exam performance prediction,” Computers &amp; Education, 2020. DOI: 10.1016/j.compedu.2019.103676.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4517136"/>
            <a:ext cx="6400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2F2F2"/>
                </a:solidFill>
                <a:latin typeface="Aptos"/>
              </a:defRPr>
            </a:pPr>
            <a:r>
              <a:t>[5] L. Yuan et al., “Predicting student success: a state-of-the-art systematic review of models and factors,” Journal of Applied Research in Higher Education, 2026. DOI: 10.1108/JARHE-08-2025-0674.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5230368"/>
            <a:ext cx="6400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F2F2F2"/>
                </a:solidFill>
                <a:latin typeface="Aptos"/>
              </a:defRPr>
            </a:pPr>
            <a:r>
              <a:t>[6] M. N. Gul et al., “Data driven decisions in education using a comprehensive machine learning framework for student performance prediction,” Discover Computing, 2025. DOI: 10.1007/s10791-025-09585-3.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016752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BEBEBE"/>
                </a:solidFill>
                <a:latin typeface="Aptos"/>
              </a:defRPr>
            </a:pPr>
            <a:r>
              <a:t>Publications / paper details: literature sources listed above.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201400" cy="1371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547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EB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